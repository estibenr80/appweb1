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type="screen16x9"/>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None/>
        <a:defRPr sz="1800" kern="1200">
          <a:solidFill>
            <a:schemeClr val="tx1"/>
          </a:solidFill>
          <a:latin typeface="+mn-lt"/>
          <a:ea typeface="+mn-ea"/>
          <a:cs typeface="+mn-cs"/>
        </a:defRPr>
      </a:lvl1pPr>
      <a:lvl2pPr marL="457200" indent="0" algn="l" defTabSz="914400" rtl="0" eaLnBrk="1" latinLnBrk="0" hangingPunct="1">
        <a:spcBef>
          <a:spcPct val="20000"/>
        </a:spcBef>
        <a:buNone/>
        <a:defRPr sz="1800" kern="1200">
          <a:solidFill>
            <a:schemeClr val="tx1"/>
          </a:solidFill>
          <a:latin typeface="+mn-lt"/>
          <a:ea typeface="+mn-ea"/>
          <a:cs typeface="+mn-cs"/>
        </a:defRPr>
      </a:lvl2pPr>
      <a:lvl3pPr marL="914400" indent="0" algn="l" defTabSz="914400" rtl="0" eaLnBrk="1" latinLnBrk="0" hangingPunct="1">
        <a:spcBef>
          <a:spcPct val="20000"/>
        </a:spcBef>
        <a:buNone/>
        <a:defRPr sz="1800" kern="1200">
          <a:solidFill>
            <a:schemeClr val="tx1"/>
          </a:solidFill>
          <a:latin typeface="+mn-lt"/>
          <a:ea typeface="+mn-ea"/>
          <a:cs typeface="+mn-cs"/>
        </a:defRPr>
      </a:lvl3pPr>
      <a:lvl4pPr marL="1371600" indent="0" algn="l" defTabSz="914400" rtl="0" eaLnBrk="1" latinLnBrk="0" hangingPunct="1">
        <a:spcBef>
          <a:spcPct val="20000"/>
        </a:spcBef>
        <a:buNone/>
        <a:defRPr sz="1800" kern="1200">
          <a:solidFill>
            <a:schemeClr val="tx1"/>
          </a:solidFill>
          <a:latin typeface="+mn-lt"/>
          <a:ea typeface="+mn-ea"/>
          <a:cs typeface="+mn-cs"/>
        </a:defRPr>
      </a:lvl4pPr>
      <a:lvl5pPr marL="1828800" indent="0" algn="l" defTabSz="914400" rtl="0" eaLnBrk="1" latinLnBrk="0" hangingPunct="1">
        <a:spcBef>
          <a:spcPct val="20000"/>
        </a:spcBef>
        <a:buNone/>
        <a:defRPr sz="1800" kern="1200">
          <a:solidFill>
            <a:schemeClr val="tx1"/>
          </a:solidFill>
          <a:latin typeface="+mn-lt"/>
          <a:ea typeface="+mn-ea"/>
          <a:cs typeface="+mn-cs"/>
        </a:defRPr>
      </a:lvl5pPr>
      <a:lvl6pPr marL="2286000" indent="0" algn="l" defTabSz="914400" rtl="0" eaLnBrk="1" latinLnBrk="0" hangingPunct="1">
        <a:spcBef>
          <a:spcPct val="20000"/>
        </a:spcBef>
        <a:buNone/>
        <a:defRPr sz="1800" kern="1200">
          <a:solidFill>
            <a:schemeClr val="tx1"/>
          </a:solidFill>
          <a:latin typeface="+mn-lt"/>
          <a:ea typeface="+mn-ea"/>
          <a:cs typeface="+mn-cs"/>
        </a:defRPr>
      </a:lvl6pPr>
      <a:lvl7pPr marL="2743200" indent="0" algn="l" defTabSz="914400" rtl="0" eaLnBrk="1" latinLnBrk="0" hangingPunct="1">
        <a:spcBef>
          <a:spcPct val="20000"/>
        </a:spcBef>
        <a:buNone/>
        <a:defRPr sz="1800" kern="1200">
          <a:solidFill>
            <a:schemeClr val="tx1"/>
          </a:solidFill>
          <a:latin typeface="+mn-lt"/>
          <a:ea typeface="+mn-ea"/>
          <a:cs typeface="+mn-cs"/>
        </a:defRPr>
      </a:lvl7pPr>
      <a:lvl8pPr marL="3200400" indent="0" algn="l" defTabSz="914400" rtl="0" eaLnBrk="1" latinLnBrk="0" hangingPunct="1">
        <a:spcBef>
          <a:spcPct val="20000"/>
        </a:spcBef>
        <a:buNone/>
        <a:defRPr sz="1800" kern="1200">
          <a:solidFill>
            <a:schemeClr val="tx1"/>
          </a:solidFill>
          <a:latin typeface="+mn-lt"/>
          <a:ea typeface="+mn-ea"/>
          <a:cs typeface="+mn-cs"/>
        </a:defRPr>
      </a:lvl8pPr>
      <a:lvl9pPr marL="3657600" indent="0" algn="l" defTabSz="914400" rtl="0" eaLnBrk="1" latinLnBrk="0" hangingPunct="1">
        <a:spcBef>
          <a:spcPct val="20000"/>
        </a:spcBef>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5.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3D5A80"/>
          </a:solidFill>
        </p:spPr>
        <p:txBody>
          <a:bodyPr/>
          <a:lstStyle/>
          <a:p>
            <a:endParaRPr lang="en-US"/>
          </a:p>
        </p:txBody>
      </p:sp>
      <p:sp>
        <p:nvSpPr>
          <p:cNvPr id="3" name="accentbar"/>
          <p:cNvSpPr/>
          <p:nvPr/>
        </p:nvSpPr>
        <p:spPr>
          <a:xfrm>
            <a:off x="0" y="4343400"/>
            <a:ext cx="12192000" cy="109728"/>
          </a:xfrm>
          <a:prstGeom prst="rect">
            <a:avLst/>
          </a:prstGeom>
          <a:solidFill>
            <a:srgbClr val="E07A5F"/>
          </a:solidFill>
        </p:spPr>
        <p:txBody>
          <a:bodyPr/>
          <a:lstStyle/>
          <a:p>
            <a:endParaRPr lang="en-US"/>
          </a:p>
        </p:txBody>
      </p:sp>
      <p:sp>
        <p:nvSpPr>
          <p:cNvPr id="4" name="title"/>
          <p:cNvSpPr/>
          <p:nvPr/>
        </p:nvSpPr>
        <p:spPr>
          <a:xfrm>
            <a:off x="914400" y="1463040"/>
            <a:ext cx="10360152" cy="1371600"/>
          </a:xfrm>
          <a:prstGeom prst="rect">
            <a:avLst/>
          </a:prstGeom>
          <a:noFill/>
        </p:spPr>
        <p:txBody>
          <a:bodyPr wrap="square" anchor="ctr">
            <a:normAutofit/>
          </a:bodyPr>
          <a:lstStyle/>
          <a:p>
            <a:pPr algn="ctr"/>
            <a:r>
              <a:rPr lang="en-US" sz="4400" b="1" dirty="0">
                <a:solidFill>
                  <a:srgbClr val="FFFFFF"/>
                </a:solidFill>
                <a:latin typeface="Calibri"/>
                <a:cs typeface="Calibri"/>
              </a:rPr>
              <a:t>My Interactive Neighborhood Map</a:t>
            </a:r>
          </a:p>
        </p:txBody>
      </p:sp>
      <p:sp>
        <p:nvSpPr>
          <p:cNvPr id="5" name="subtitle"/>
          <p:cNvSpPr/>
          <p:nvPr/>
        </p:nvSpPr>
        <p:spPr>
          <a:xfrm>
            <a:off x="914400" y="2743200"/>
            <a:ext cx="10360152" cy="822960"/>
          </a:xfrm>
          <a:prstGeom prst="rect">
            <a:avLst/>
          </a:prstGeom>
          <a:noFill/>
        </p:spPr>
        <p:txBody>
          <a:bodyPr wrap="square" anchor="ctr">
            <a:normAutofit/>
          </a:bodyPr>
          <a:lstStyle/>
          <a:p>
            <a:pPr algn="ctr"/>
            <a:r>
              <a:rPr lang="en-US" sz="2800" dirty="0">
                <a:solidFill>
                  <a:srgbClr val="F2CC8F"/>
                </a:solidFill>
                <a:latin typeface="Calibri"/>
                <a:cs typeface="Calibri"/>
              </a:rPr>
              <a:t>"Las Ferias" - Bogota, Colombia</a:t>
            </a:r>
          </a:p>
        </p:txBody>
      </p:sp>
      <p:sp>
        <p:nvSpPr>
          <p:cNvPr id="6" name="course"/>
          <p:cNvSpPr/>
          <p:nvPr/>
        </p:nvSpPr>
        <p:spPr>
          <a:xfrm>
            <a:off x="914400" y="4663440"/>
            <a:ext cx="10360152" cy="1280160"/>
          </a:xfrm>
          <a:prstGeom prst="rect">
            <a:avLst/>
          </a:prstGeom>
          <a:noFill/>
        </p:spPr>
        <p:txBody>
          <a:bodyPr wrap="square" anchor="ctr">
            <a:normAutofit/>
          </a:bodyPr>
          <a:lstStyle/>
          <a:p>
            <a:pPr algn="ctr"/>
            <a:r>
              <a:rPr lang="en-US" sz="1800" dirty="0">
                <a:solidFill>
                  <a:srgbClr val="FFFFFF"/>
                </a:solidFill>
                <a:latin typeface="Calibri"/>
                <a:cs typeface="Calibri"/>
              </a:rPr>
              <a:t>English Project - Giving Directions &amp; Places in the City</a:t>
            </a:r>
          </a:p>
          <a:p>
            <a:pPr algn="ctr"/>
            <a:r>
              <a:rPr lang="en-US" sz="1500" dirty="0">
                <a:solidFill>
                  <a:srgbClr val="CFE0E8"/>
                </a:solidFill>
                <a:latin typeface="Calibri"/>
                <a:cs typeface="Calibri"/>
              </a:rPr>
              <a:t>Platform: Microsoft PowerPoint   |   A1 / A2 English</a:t>
            </a:r>
          </a:p>
        </p:txBody>
      </p:sp>
      <p:sp>
        <p:nvSpPr>
          <p:cNvPr id="7" name="deco"/>
          <p:cNvSpPr/>
          <p:nvPr/>
        </p:nvSpPr>
        <p:spPr>
          <a:xfrm>
            <a:off x="9692640" y="365760"/>
            <a:ext cx="1005840" cy="1005840"/>
          </a:xfrm>
          <a:prstGeom prst="diamond">
            <a:avLst/>
          </a:prstGeom>
          <a:solidFill>
            <a:srgbClr val="E07A5F"/>
          </a:solidFill>
        </p:spPr>
        <p:txBody>
          <a:bodyPr wrap="square" anchor="ctr">
            <a:normAutofit/>
          </a:bodyPr>
          <a:lstStyle/>
          <a:p>
            <a:pPr algn="ctr"/>
            <a:r>
              <a:rPr lang="en-US" sz="1600" b="1" dirty="0">
                <a:solidFill>
                  <a:srgbClr val="FFFFFF"/>
                </a:solidFill>
                <a:latin typeface="Calibri"/>
                <a:cs typeface="Calibri"/>
              </a:rPr>
              <a:t>N</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titlebar"/>
          <p:cNvSpPr/>
          <p:nvPr/>
        </p:nvSpPr>
        <p:spPr>
          <a:xfrm>
            <a:off x="0" y="0"/>
            <a:ext cx="12192000" cy="777240"/>
          </a:xfrm>
          <a:prstGeom prst="rect">
            <a:avLst/>
          </a:prstGeom>
          <a:solidFill>
            <a:srgbClr val="3D5A80"/>
          </a:solidFill>
        </p:spPr>
        <p:txBody>
          <a:bodyPr wrap="square" anchor="ctr">
            <a:normAutofit/>
          </a:bodyPr>
          <a:lstStyle/>
          <a:p>
            <a:pPr algn="ctr"/>
            <a:r>
              <a:rPr lang="en-US" sz="2400" b="1" dirty="0">
                <a:solidFill>
                  <a:srgbClr val="FFFFFF"/>
                </a:solidFill>
                <a:latin typeface="Calibri"/>
                <a:cs typeface="Calibri"/>
              </a:rPr>
              <a:t>Neighborhood Map - "Las Ferias", Bogota</a:t>
            </a:r>
          </a:p>
        </p:txBody>
      </p:sp>
      <p:sp>
        <p:nvSpPr>
          <p:cNvPr id="3" name="canvas"/>
          <p:cNvSpPr/>
          <p:nvPr/>
        </p:nvSpPr>
        <p:spPr>
          <a:xfrm>
            <a:off x="228600" y="914400"/>
            <a:ext cx="8595360" cy="5760720"/>
          </a:xfrm>
          <a:prstGeom prst="roundRect">
            <a:avLst/>
          </a:prstGeom>
          <a:solidFill>
            <a:srgbClr val="F2F4F3"/>
          </a:solidFill>
          <a:ln w="15875">
            <a:solidFill>
              <a:srgbClr val="6C757D"/>
            </a:solidFill>
          </a:ln>
        </p:spPr>
        <p:txBody>
          <a:bodyPr/>
          <a:lstStyle/>
          <a:p>
            <a:endParaRPr lang="en-US"/>
          </a:p>
        </p:txBody>
      </p:sp>
      <p:sp>
        <p:nvSpPr>
          <p:cNvPr id="4" name="park"/>
          <p:cNvSpPr/>
          <p:nvPr/>
        </p:nvSpPr>
        <p:spPr>
          <a:xfrm>
            <a:off x="548640" y="1234440"/>
            <a:ext cx="2011680" cy="1371600"/>
          </a:xfrm>
          <a:prstGeom prst="roundRect">
            <a:avLst/>
          </a:prstGeom>
          <a:solidFill>
            <a:srgbClr val="7FB069"/>
          </a:solidFill>
        </p:spPr>
        <p:txBody>
          <a:bodyPr wrap="square" anchor="ctr">
            <a:normAutofit/>
          </a:bodyPr>
          <a:lstStyle/>
          <a:p>
            <a:pPr algn="ctr"/>
            <a:r>
              <a:rPr lang="en-US" sz="1100" b="1" dirty="0">
                <a:solidFill>
                  <a:srgbClr val="FFFFFF"/>
                </a:solidFill>
                <a:latin typeface="Calibri"/>
                <a:cs typeface="Calibri"/>
              </a:rPr>
              <a:t>Simon Bolivar</a:t>
            </a:r>
          </a:p>
          <a:p>
            <a:pPr algn="ctr"/>
            <a:r>
              <a:rPr lang="en-US" sz="1100" b="1" dirty="0">
                <a:solidFill>
                  <a:srgbClr val="FFFFFF"/>
                </a:solidFill>
                <a:latin typeface="Calibri"/>
                <a:cs typeface="Calibri"/>
              </a:rPr>
              <a:t>Park</a:t>
            </a:r>
          </a:p>
        </p:txBody>
      </p:sp>
      <p:sp>
        <p:nvSpPr>
          <p:cNvPr id="5" name="plaza"/>
          <p:cNvSpPr/>
          <p:nvPr/>
        </p:nvSpPr>
        <p:spPr>
          <a:xfrm>
            <a:off x="6309360" y="4754880"/>
            <a:ext cx="2103120" cy="1554480"/>
          </a:xfrm>
          <a:prstGeom prst="roundRect">
            <a:avLst/>
          </a:prstGeom>
          <a:solidFill>
            <a:srgbClr val="7FB069"/>
          </a:solidFill>
        </p:spPr>
        <p:txBody>
          <a:bodyPr wrap="square" anchor="ctr">
            <a:normAutofit/>
          </a:bodyPr>
          <a:lstStyle/>
          <a:p>
            <a:pPr algn="ctr"/>
            <a:r>
              <a:rPr lang="en-US" sz="1000" b="1" dirty="0">
                <a:solidFill>
                  <a:srgbClr val="FFFFFF"/>
                </a:solidFill>
                <a:latin typeface="Calibri"/>
                <a:cs typeface="Calibri"/>
              </a:rPr>
              <a:t>Central Square</a:t>
            </a:r>
          </a:p>
          <a:p>
            <a:pPr algn="ctr"/>
            <a:r>
              <a:rPr lang="en-US" sz="1000" b="1" dirty="0">
                <a:solidFill>
                  <a:srgbClr val="FFFFFF"/>
                </a:solidFill>
                <a:latin typeface="Calibri"/>
                <a:cs typeface="Calibri"/>
              </a:rPr>
              <a:t>(Plaza)</a:t>
            </a:r>
          </a:p>
        </p:txBody>
      </p:sp>
      <p:cxnSp>
        <p:nvCxnSpPr>
          <p:cNvPr id="6" name="Av. Boyaca"/>
          <p:cNvCxnSpPr/>
          <p:nvPr/>
        </p:nvCxnSpPr>
        <p:spPr>
          <a:xfrm>
            <a:off x="365760" y="1828800"/>
            <a:ext cx="8321040" cy="0"/>
          </a:xfrm>
          <a:prstGeom prst="line">
            <a:avLst/>
          </a:prstGeom>
          <a:ln w="42000" cap="rnd">
            <a:solidFill>
              <a:srgbClr val="6C757D"/>
            </a:solidFill>
          </a:ln>
        </p:spPr>
      </p:cxnSp>
      <p:sp>
        <p:nvSpPr>
          <p:cNvPr id="7" name="Av. Boyaca_lbl"/>
          <p:cNvSpPr/>
          <p:nvPr/>
        </p:nvSpPr>
        <p:spPr>
          <a:xfrm>
            <a:off x="457200" y="1554480"/>
            <a:ext cx="1645920" cy="274320"/>
          </a:xfrm>
          <a:prstGeom prst="rect">
            <a:avLst/>
          </a:prstGeom>
          <a:noFill/>
        </p:spPr>
        <p:txBody>
          <a:bodyPr wrap="square" anchor="ctr">
            <a:normAutofit/>
          </a:bodyPr>
          <a:lstStyle/>
          <a:p>
            <a:pPr algn="l"/>
            <a:r>
              <a:rPr lang="en-US" sz="900" b="1" dirty="0">
                <a:solidFill>
                  <a:srgbClr val="22333B"/>
                </a:solidFill>
                <a:latin typeface="Calibri"/>
                <a:cs typeface="Calibri"/>
              </a:rPr>
              <a:t>Av. Boyaca</a:t>
            </a:r>
          </a:p>
        </p:txBody>
      </p:sp>
      <p:cxnSp>
        <p:nvCxnSpPr>
          <p:cNvPr id="8" name="Calle 72"/>
          <p:cNvCxnSpPr/>
          <p:nvPr/>
        </p:nvCxnSpPr>
        <p:spPr>
          <a:xfrm>
            <a:off x="365760" y="3291840"/>
            <a:ext cx="8321040" cy="0"/>
          </a:xfrm>
          <a:prstGeom prst="line">
            <a:avLst/>
          </a:prstGeom>
          <a:ln w="42000" cap="rnd">
            <a:solidFill>
              <a:srgbClr val="6C757D"/>
            </a:solidFill>
          </a:ln>
        </p:spPr>
      </p:cxnSp>
      <p:sp>
        <p:nvSpPr>
          <p:cNvPr id="9" name="Calle 72_lbl"/>
          <p:cNvSpPr/>
          <p:nvPr/>
        </p:nvSpPr>
        <p:spPr>
          <a:xfrm>
            <a:off x="457200" y="3017520"/>
            <a:ext cx="1645920" cy="274320"/>
          </a:xfrm>
          <a:prstGeom prst="rect">
            <a:avLst/>
          </a:prstGeom>
          <a:noFill/>
        </p:spPr>
        <p:txBody>
          <a:bodyPr wrap="square" anchor="ctr">
            <a:normAutofit/>
          </a:bodyPr>
          <a:lstStyle/>
          <a:p>
            <a:pPr algn="l"/>
            <a:r>
              <a:rPr lang="en-US" sz="900" b="1" dirty="0">
                <a:solidFill>
                  <a:srgbClr val="22333B"/>
                </a:solidFill>
                <a:latin typeface="Calibri"/>
                <a:cs typeface="Calibri"/>
              </a:rPr>
              <a:t>Calle 72</a:t>
            </a:r>
          </a:p>
        </p:txBody>
      </p:sp>
      <p:cxnSp>
        <p:nvCxnSpPr>
          <p:cNvPr id="10" name="Calle 68"/>
          <p:cNvCxnSpPr/>
          <p:nvPr/>
        </p:nvCxnSpPr>
        <p:spPr>
          <a:xfrm>
            <a:off x="365760" y="4846320"/>
            <a:ext cx="8321040" cy="0"/>
          </a:xfrm>
          <a:prstGeom prst="line">
            <a:avLst/>
          </a:prstGeom>
          <a:ln w="42000" cap="rnd">
            <a:solidFill>
              <a:srgbClr val="6C757D"/>
            </a:solidFill>
          </a:ln>
        </p:spPr>
      </p:cxnSp>
      <p:sp>
        <p:nvSpPr>
          <p:cNvPr id="11" name="Calle 68_lbl"/>
          <p:cNvSpPr/>
          <p:nvPr/>
        </p:nvSpPr>
        <p:spPr>
          <a:xfrm>
            <a:off x="457200" y="4572000"/>
            <a:ext cx="1645920" cy="274320"/>
          </a:xfrm>
          <a:prstGeom prst="rect">
            <a:avLst/>
          </a:prstGeom>
          <a:noFill/>
        </p:spPr>
        <p:txBody>
          <a:bodyPr wrap="square" anchor="ctr">
            <a:normAutofit/>
          </a:bodyPr>
          <a:lstStyle/>
          <a:p>
            <a:pPr algn="l"/>
            <a:r>
              <a:rPr lang="en-US" sz="900" b="1" dirty="0">
                <a:solidFill>
                  <a:srgbClr val="22333B"/>
                </a:solidFill>
                <a:latin typeface="Calibri"/>
                <a:cs typeface="Calibri"/>
              </a:rPr>
              <a:t>Calle 68</a:t>
            </a:r>
          </a:p>
        </p:txBody>
      </p:sp>
      <p:cxnSp>
        <p:nvCxnSpPr>
          <p:cNvPr id="12" name="Carrera 69"/>
          <p:cNvCxnSpPr/>
          <p:nvPr/>
        </p:nvCxnSpPr>
        <p:spPr>
          <a:xfrm>
            <a:off x="2011680" y="1005840"/>
            <a:ext cx="0" cy="5532120"/>
          </a:xfrm>
          <a:prstGeom prst="line">
            <a:avLst/>
          </a:prstGeom>
          <a:ln w="42000" cap="rnd">
            <a:solidFill>
              <a:srgbClr val="6C757D"/>
            </a:solidFill>
          </a:ln>
        </p:spPr>
      </p:cxnSp>
      <p:sp>
        <p:nvSpPr>
          <p:cNvPr id="13" name="Carrera 69_lbl"/>
          <p:cNvSpPr/>
          <p:nvPr/>
        </p:nvSpPr>
        <p:spPr>
          <a:xfrm>
            <a:off x="1874519" y="1024128"/>
            <a:ext cx="1280160" cy="274320"/>
          </a:xfrm>
          <a:prstGeom prst="rect">
            <a:avLst/>
          </a:prstGeom>
          <a:noFill/>
        </p:spPr>
        <p:txBody>
          <a:bodyPr wrap="square" anchor="ctr">
            <a:normAutofit/>
          </a:bodyPr>
          <a:lstStyle/>
          <a:p>
            <a:pPr algn="l"/>
            <a:r>
              <a:rPr lang="en-US" sz="900" b="1" dirty="0">
                <a:solidFill>
                  <a:srgbClr val="22333B"/>
                </a:solidFill>
                <a:latin typeface="Calibri"/>
                <a:cs typeface="Calibri"/>
              </a:rPr>
              <a:t>Carrera 69</a:t>
            </a:r>
          </a:p>
        </p:txBody>
      </p:sp>
      <p:cxnSp>
        <p:nvCxnSpPr>
          <p:cNvPr id="14" name="Av. 68"/>
          <p:cNvCxnSpPr/>
          <p:nvPr/>
        </p:nvCxnSpPr>
        <p:spPr>
          <a:xfrm>
            <a:off x="4206240" y="1005840"/>
            <a:ext cx="0" cy="5532120"/>
          </a:xfrm>
          <a:prstGeom prst="line">
            <a:avLst/>
          </a:prstGeom>
          <a:ln w="42000" cap="rnd">
            <a:solidFill>
              <a:srgbClr val="6C757D"/>
            </a:solidFill>
          </a:ln>
        </p:spPr>
      </p:cxnSp>
      <p:sp>
        <p:nvSpPr>
          <p:cNvPr id="15" name="Av. 68_lbl"/>
          <p:cNvSpPr/>
          <p:nvPr/>
        </p:nvSpPr>
        <p:spPr>
          <a:xfrm>
            <a:off x="4069080" y="1024128"/>
            <a:ext cx="1280160" cy="274320"/>
          </a:xfrm>
          <a:prstGeom prst="rect">
            <a:avLst/>
          </a:prstGeom>
          <a:noFill/>
        </p:spPr>
        <p:txBody>
          <a:bodyPr wrap="square" anchor="ctr">
            <a:normAutofit/>
          </a:bodyPr>
          <a:lstStyle/>
          <a:p>
            <a:pPr algn="l"/>
            <a:r>
              <a:rPr lang="en-US" sz="900" b="1" dirty="0">
                <a:solidFill>
                  <a:srgbClr val="22333B"/>
                </a:solidFill>
                <a:latin typeface="Calibri"/>
                <a:cs typeface="Calibri"/>
              </a:rPr>
              <a:t>Av. 68</a:t>
            </a:r>
          </a:p>
        </p:txBody>
      </p:sp>
      <p:cxnSp>
        <p:nvCxnSpPr>
          <p:cNvPr id="16" name="Carrera 60"/>
          <p:cNvCxnSpPr/>
          <p:nvPr/>
        </p:nvCxnSpPr>
        <p:spPr>
          <a:xfrm>
            <a:off x="6400800" y="1005840"/>
            <a:ext cx="0" cy="5532120"/>
          </a:xfrm>
          <a:prstGeom prst="line">
            <a:avLst/>
          </a:prstGeom>
          <a:ln w="42000" cap="rnd">
            <a:solidFill>
              <a:srgbClr val="6C757D"/>
            </a:solidFill>
          </a:ln>
        </p:spPr>
      </p:cxnSp>
      <p:sp>
        <p:nvSpPr>
          <p:cNvPr id="17" name="Carrera 60_lbl"/>
          <p:cNvSpPr/>
          <p:nvPr/>
        </p:nvSpPr>
        <p:spPr>
          <a:xfrm>
            <a:off x="6263640" y="1024128"/>
            <a:ext cx="1280160" cy="274320"/>
          </a:xfrm>
          <a:prstGeom prst="rect">
            <a:avLst/>
          </a:prstGeom>
          <a:noFill/>
        </p:spPr>
        <p:txBody>
          <a:bodyPr wrap="square" anchor="ctr">
            <a:normAutofit/>
          </a:bodyPr>
          <a:lstStyle/>
          <a:p>
            <a:pPr algn="l"/>
            <a:r>
              <a:rPr lang="en-US" sz="900" b="1" dirty="0">
                <a:solidFill>
                  <a:srgbClr val="22333B"/>
                </a:solidFill>
                <a:latin typeface="Calibri"/>
                <a:cs typeface="Calibri"/>
              </a:rPr>
              <a:t>Carrera 60</a:t>
            </a:r>
          </a:p>
        </p:txBody>
      </p:sp>
      <p:sp>
        <p:nvSpPr>
          <p:cNvPr id="18" name="trafficlight"/>
          <p:cNvSpPr/>
          <p:nvPr/>
        </p:nvSpPr>
        <p:spPr>
          <a:xfrm>
            <a:off x="1901952" y="1719072"/>
            <a:ext cx="219456" cy="219456"/>
          </a:xfrm>
          <a:prstGeom prst="ellipse">
            <a:avLst/>
          </a:prstGeom>
          <a:solidFill>
            <a:srgbClr val="E07A5F"/>
          </a:solidFill>
          <a:ln w="9525">
            <a:solidFill>
              <a:srgbClr val="FFFFFF"/>
            </a:solidFill>
          </a:ln>
        </p:spPr>
        <p:txBody>
          <a:bodyPr/>
          <a:lstStyle/>
          <a:p>
            <a:endParaRPr lang="en-US"/>
          </a:p>
        </p:txBody>
      </p:sp>
      <p:sp>
        <p:nvSpPr>
          <p:cNvPr id="19" name="trafficlight"/>
          <p:cNvSpPr/>
          <p:nvPr/>
        </p:nvSpPr>
        <p:spPr>
          <a:xfrm>
            <a:off x="4096511" y="3182112"/>
            <a:ext cx="219456" cy="219456"/>
          </a:xfrm>
          <a:prstGeom prst="ellipse">
            <a:avLst/>
          </a:prstGeom>
          <a:solidFill>
            <a:srgbClr val="E07A5F"/>
          </a:solidFill>
          <a:ln w="9525">
            <a:solidFill>
              <a:srgbClr val="FFFFFF"/>
            </a:solidFill>
          </a:ln>
        </p:spPr>
        <p:txBody>
          <a:bodyPr/>
          <a:lstStyle/>
          <a:p>
            <a:endParaRPr lang="en-US"/>
          </a:p>
        </p:txBody>
      </p:sp>
      <p:sp>
        <p:nvSpPr>
          <p:cNvPr id="20" name="trafficlight"/>
          <p:cNvSpPr/>
          <p:nvPr/>
        </p:nvSpPr>
        <p:spPr>
          <a:xfrm>
            <a:off x="6291072" y="4736592"/>
            <a:ext cx="219456" cy="219456"/>
          </a:xfrm>
          <a:prstGeom prst="ellipse">
            <a:avLst/>
          </a:prstGeom>
          <a:solidFill>
            <a:srgbClr val="E07A5F"/>
          </a:solidFill>
          <a:ln w="9525">
            <a:solidFill>
              <a:srgbClr val="FFFFFF"/>
            </a:solidFill>
          </a:ln>
        </p:spPr>
        <p:txBody>
          <a:bodyPr/>
          <a:lstStyle/>
          <a:p>
            <a:endParaRPr lang="en-US"/>
          </a:p>
        </p:txBody>
      </p:sp>
      <p:sp>
        <p:nvSpPr>
          <p:cNvPr id="21" name="roundabout"/>
          <p:cNvSpPr/>
          <p:nvPr/>
        </p:nvSpPr>
        <p:spPr>
          <a:xfrm>
            <a:off x="3977639" y="3063240"/>
            <a:ext cx="457200" cy="457200"/>
          </a:xfrm>
          <a:prstGeom prst="donut">
            <a:avLst/>
          </a:prstGeom>
          <a:solidFill>
            <a:srgbClr val="F2CC8F"/>
          </a:solidFill>
          <a:ln w="9525">
            <a:solidFill>
              <a:srgbClr val="6C757D"/>
            </a:solidFill>
          </a:ln>
        </p:spPr>
        <p:txBody>
          <a:bodyPr/>
          <a:lstStyle/>
          <a:p>
            <a:endParaRPr lang="en-US"/>
          </a:p>
        </p:txBody>
      </p:sp>
      <p:sp>
        <p:nvSpPr>
          <p:cNvPr id="22" name="bridge_lbl"/>
          <p:cNvSpPr/>
          <p:nvPr/>
        </p:nvSpPr>
        <p:spPr>
          <a:xfrm>
            <a:off x="274320" y="1828800"/>
            <a:ext cx="868680" cy="274320"/>
          </a:xfrm>
          <a:prstGeom prst="rect">
            <a:avLst/>
          </a:prstGeom>
          <a:noFill/>
        </p:spPr>
        <p:txBody>
          <a:bodyPr wrap="square" anchor="ctr">
            <a:normAutofit/>
          </a:bodyPr>
          <a:lstStyle/>
          <a:p>
            <a:pPr algn="l"/>
            <a:r>
              <a:rPr lang="en-US" sz="850" b="1" i="1" dirty="0">
                <a:solidFill>
                  <a:srgbClr val="3D5A80"/>
                </a:solidFill>
                <a:latin typeface="Calibri"/>
                <a:cs typeface="Calibri"/>
              </a:rPr>
              <a:t>Bridge</a:t>
            </a:r>
          </a:p>
        </p:txBody>
      </p:sp>
      <p:sp>
        <p:nvSpPr>
          <p:cNvPr id="23" name="HOME">
            <a:hlinkClick xmlns:r="http://schemas.openxmlformats.org/officeDocument/2006/relationships" r:id="rId2" action="ppaction://hlinksldjump"/>
          </p:cNvPr>
          <p:cNvSpPr/>
          <p:nvPr/>
        </p:nvSpPr>
        <p:spPr>
          <a:xfrm>
            <a:off x="548640" y="2743200"/>
            <a:ext cx="1371600" cy="502920"/>
          </a:xfrm>
          <a:prstGeom prst="roundRect">
            <a:avLst/>
          </a:prstGeom>
          <a:solidFill>
            <a:srgbClr val="22333B"/>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HOME</a:t>
            </a:r>
          </a:p>
        </p:txBody>
      </p:sp>
      <p:sp>
        <p:nvSpPr>
          <p:cNvPr id="24" name="Supermarket">
            <a:hlinkClick xmlns:r="http://schemas.openxmlformats.org/officeDocument/2006/relationships" r:id="rId3" action="ppaction://hlinksldjump"/>
          </p:cNvPr>
          <p:cNvSpPr/>
          <p:nvPr/>
        </p:nvSpPr>
        <p:spPr>
          <a:xfrm>
            <a:off x="548640" y="3840480"/>
            <a:ext cx="1371600" cy="685800"/>
          </a:xfrm>
          <a:prstGeom prst="roundRect">
            <a:avLst/>
          </a:prstGeom>
          <a:solidFill>
            <a:srgbClr val="E07A5F"/>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Supermarket</a:t>
            </a:r>
          </a:p>
        </p:txBody>
      </p:sp>
      <p:sp>
        <p:nvSpPr>
          <p:cNvPr id="25" name="School">
            <a:hlinkClick xmlns:r="http://schemas.openxmlformats.org/officeDocument/2006/relationships" r:id="rId4" action="ppaction://hlinksldjump"/>
          </p:cNvPr>
          <p:cNvSpPr/>
          <p:nvPr/>
        </p:nvSpPr>
        <p:spPr>
          <a:xfrm>
            <a:off x="2286000" y="2011680"/>
            <a:ext cx="1463040" cy="640080"/>
          </a:xfrm>
          <a:prstGeom prst="roundRect">
            <a:avLst/>
          </a:prstGeom>
          <a:solidFill>
            <a:srgbClr val="3D5A80"/>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School</a:t>
            </a:r>
          </a:p>
        </p:txBody>
      </p:sp>
      <p:sp>
        <p:nvSpPr>
          <p:cNvPr id="26" name="Hospital">
            <a:hlinkClick xmlns:r="http://schemas.openxmlformats.org/officeDocument/2006/relationships" r:id="rId5" action="ppaction://hlinksldjump"/>
          </p:cNvPr>
          <p:cNvSpPr/>
          <p:nvPr/>
        </p:nvSpPr>
        <p:spPr>
          <a:xfrm>
            <a:off x="2286000" y="3840480"/>
            <a:ext cx="1371600" cy="640080"/>
          </a:xfrm>
          <a:prstGeom prst="roundRect">
            <a:avLst/>
          </a:prstGeom>
          <a:solidFill>
            <a:srgbClr val="E07A5F"/>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Hospital</a:t>
            </a:r>
          </a:p>
        </p:txBody>
      </p:sp>
      <p:sp>
        <p:nvSpPr>
          <p:cNvPr id="27" name="Library">
            <a:hlinkClick xmlns:r="http://schemas.openxmlformats.org/officeDocument/2006/relationships" r:id="rId6" action="ppaction://hlinksldjump"/>
          </p:cNvPr>
          <p:cNvSpPr/>
          <p:nvPr/>
        </p:nvSpPr>
        <p:spPr>
          <a:xfrm>
            <a:off x="4572000" y="2011680"/>
            <a:ext cx="1463040" cy="640080"/>
          </a:xfrm>
          <a:prstGeom prst="roundRect">
            <a:avLst/>
          </a:prstGeom>
          <a:solidFill>
            <a:srgbClr val="3D5A80"/>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Library</a:t>
            </a:r>
          </a:p>
        </p:txBody>
      </p:sp>
      <p:sp>
        <p:nvSpPr>
          <p:cNvPr id="28" name="Cafe">
            <a:hlinkClick xmlns:r="http://schemas.openxmlformats.org/officeDocument/2006/relationships" r:id="rId7" action="ppaction://hlinksldjump"/>
          </p:cNvPr>
          <p:cNvSpPr/>
          <p:nvPr/>
        </p:nvSpPr>
        <p:spPr>
          <a:xfrm>
            <a:off x="4572000" y="3657600"/>
            <a:ext cx="1280160" cy="640080"/>
          </a:xfrm>
          <a:prstGeom prst="roundRect">
            <a:avLst/>
          </a:prstGeom>
          <a:solidFill>
            <a:srgbClr val="F2CC8F"/>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Cafe</a:t>
            </a:r>
          </a:p>
        </p:txBody>
      </p:sp>
      <p:sp>
        <p:nvSpPr>
          <p:cNvPr id="29" name="Subway Station">
            <a:hlinkClick xmlns:r="http://schemas.openxmlformats.org/officeDocument/2006/relationships" r:id="rId8" action="ppaction://hlinksldjump"/>
          </p:cNvPr>
          <p:cNvSpPr/>
          <p:nvPr/>
        </p:nvSpPr>
        <p:spPr>
          <a:xfrm>
            <a:off x="6675120" y="1920240"/>
            <a:ext cx="1554480" cy="640080"/>
          </a:xfrm>
          <a:prstGeom prst="roundRect">
            <a:avLst/>
          </a:prstGeom>
          <a:solidFill>
            <a:srgbClr val="22333B"/>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Subway Station</a:t>
            </a:r>
          </a:p>
        </p:txBody>
      </p:sp>
      <p:sp>
        <p:nvSpPr>
          <p:cNvPr id="30" name="Bank">
            <a:hlinkClick xmlns:r="http://schemas.openxmlformats.org/officeDocument/2006/relationships" r:id="rId9" action="ppaction://hlinksldjump"/>
          </p:cNvPr>
          <p:cNvSpPr/>
          <p:nvPr/>
        </p:nvSpPr>
        <p:spPr>
          <a:xfrm>
            <a:off x="6675120" y="3566160"/>
            <a:ext cx="1188720" cy="594360"/>
          </a:xfrm>
          <a:prstGeom prst="roundRect">
            <a:avLst/>
          </a:prstGeom>
          <a:solidFill>
            <a:srgbClr val="3D5A80"/>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Bank</a:t>
            </a:r>
          </a:p>
        </p:txBody>
      </p:sp>
      <p:sp>
        <p:nvSpPr>
          <p:cNvPr id="31" name="Pharmacy">
            <a:hlinkClick xmlns:r="http://schemas.openxmlformats.org/officeDocument/2006/relationships" r:id="rId10" action="ppaction://hlinksldjump"/>
          </p:cNvPr>
          <p:cNvSpPr/>
          <p:nvPr/>
        </p:nvSpPr>
        <p:spPr>
          <a:xfrm>
            <a:off x="2286000" y="5120640"/>
            <a:ext cx="1371600" cy="640080"/>
          </a:xfrm>
          <a:prstGeom prst="roundRect">
            <a:avLst/>
          </a:prstGeom>
          <a:solidFill>
            <a:srgbClr val="E07A5F"/>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Pharmacy</a:t>
            </a:r>
          </a:p>
        </p:txBody>
      </p:sp>
      <p:sp>
        <p:nvSpPr>
          <p:cNvPr id="32" name="Store">
            <a:hlinkClick xmlns:r="http://schemas.openxmlformats.org/officeDocument/2006/relationships" r:id="rId11" action="ppaction://hlinksldjump"/>
          </p:cNvPr>
          <p:cNvSpPr/>
          <p:nvPr/>
        </p:nvSpPr>
        <p:spPr>
          <a:xfrm>
            <a:off x="4572000" y="5120640"/>
            <a:ext cx="1280160" cy="640080"/>
          </a:xfrm>
          <a:prstGeom prst="roundRect">
            <a:avLst/>
          </a:prstGeom>
          <a:solidFill>
            <a:srgbClr val="F2CC8F"/>
          </a:solidFill>
          <a:ln w="12700">
            <a:solidFill>
              <a:srgbClr val="FFFFFF"/>
            </a:solidFill>
          </a:ln>
        </p:spPr>
        <p:txBody>
          <a:bodyPr wrap="square" anchor="ctr">
            <a:normAutofit/>
          </a:bodyPr>
          <a:lstStyle/>
          <a:p>
            <a:pPr algn="ctr"/>
            <a:r>
              <a:rPr lang="en-US" sz="950" b="1" dirty="0">
                <a:solidFill>
                  <a:srgbClr val="FFFFFF"/>
                </a:solidFill>
                <a:latin typeface="Calibri"/>
                <a:cs typeface="Calibri"/>
              </a:rPr>
              <a:t>Store</a:t>
            </a:r>
          </a:p>
        </p:txBody>
      </p:sp>
      <p:sp>
        <p:nvSpPr>
          <p:cNvPr id="33" name="compass_bg"/>
          <p:cNvSpPr/>
          <p:nvPr/>
        </p:nvSpPr>
        <p:spPr>
          <a:xfrm>
            <a:off x="9098280" y="1828800"/>
            <a:ext cx="1737360" cy="1737360"/>
          </a:xfrm>
          <a:prstGeom prst="ellipse">
            <a:avLst/>
          </a:prstGeom>
          <a:solidFill>
            <a:srgbClr val="FFFFFF"/>
          </a:solidFill>
          <a:ln w="15875">
            <a:solidFill>
              <a:srgbClr val="3D5A80"/>
            </a:solidFill>
          </a:ln>
        </p:spPr>
        <p:txBody>
          <a:bodyPr/>
          <a:lstStyle/>
          <a:p>
            <a:endParaRPr lang="en-US"/>
          </a:p>
        </p:txBody>
      </p:sp>
      <p:sp>
        <p:nvSpPr>
          <p:cNvPr id="34" name="N"/>
          <p:cNvSpPr/>
          <p:nvPr/>
        </p:nvSpPr>
        <p:spPr>
          <a:xfrm>
            <a:off x="9646920" y="1600200"/>
            <a:ext cx="640080" cy="411480"/>
          </a:xfrm>
          <a:prstGeom prst="rect">
            <a:avLst/>
          </a:prstGeom>
          <a:noFill/>
        </p:spPr>
        <p:txBody>
          <a:bodyPr wrap="square" anchor="ctr">
            <a:normAutofit/>
          </a:bodyPr>
          <a:lstStyle/>
          <a:p>
            <a:pPr algn="ctr"/>
            <a:r>
              <a:rPr lang="en-US" sz="1500" b="1" dirty="0">
                <a:solidFill>
                  <a:srgbClr val="E07A5F"/>
                </a:solidFill>
                <a:latin typeface="Calibri"/>
                <a:cs typeface="Calibri"/>
              </a:rPr>
              <a:t>N</a:t>
            </a:r>
          </a:p>
        </p:txBody>
      </p:sp>
      <p:sp>
        <p:nvSpPr>
          <p:cNvPr id="35" name="S"/>
          <p:cNvSpPr/>
          <p:nvPr/>
        </p:nvSpPr>
        <p:spPr>
          <a:xfrm>
            <a:off x="9646920" y="3337560"/>
            <a:ext cx="640080" cy="411480"/>
          </a:xfrm>
          <a:prstGeom prst="rect">
            <a:avLst/>
          </a:prstGeom>
          <a:noFill/>
        </p:spPr>
        <p:txBody>
          <a:bodyPr wrap="square" anchor="ctr">
            <a:normAutofit/>
          </a:bodyPr>
          <a:lstStyle/>
          <a:p>
            <a:pPr algn="ctr"/>
            <a:r>
              <a:rPr lang="en-US" sz="1500" b="1" dirty="0">
                <a:solidFill>
                  <a:srgbClr val="22333B"/>
                </a:solidFill>
                <a:latin typeface="Calibri"/>
                <a:cs typeface="Calibri"/>
              </a:rPr>
              <a:t>S</a:t>
            </a:r>
          </a:p>
        </p:txBody>
      </p:sp>
      <p:sp>
        <p:nvSpPr>
          <p:cNvPr id="36" name="E"/>
          <p:cNvSpPr/>
          <p:nvPr/>
        </p:nvSpPr>
        <p:spPr>
          <a:xfrm>
            <a:off x="10561320" y="2423160"/>
            <a:ext cx="457200" cy="411480"/>
          </a:xfrm>
          <a:prstGeom prst="rect">
            <a:avLst/>
          </a:prstGeom>
          <a:noFill/>
        </p:spPr>
        <p:txBody>
          <a:bodyPr wrap="square" anchor="ctr">
            <a:normAutofit/>
          </a:bodyPr>
          <a:lstStyle/>
          <a:p>
            <a:pPr algn="ctr"/>
            <a:r>
              <a:rPr lang="en-US" sz="1500" b="1" dirty="0">
                <a:solidFill>
                  <a:srgbClr val="22333B"/>
                </a:solidFill>
                <a:latin typeface="Calibri"/>
                <a:cs typeface="Calibri"/>
              </a:rPr>
              <a:t>E</a:t>
            </a:r>
          </a:p>
        </p:txBody>
      </p:sp>
      <p:sp>
        <p:nvSpPr>
          <p:cNvPr id="37" name="W"/>
          <p:cNvSpPr/>
          <p:nvPr/>
        </p:nvSpPr>
        <p:spPr>
          <a:xfrm>
            <a:off x="8915400" y="2423160"/>
            <a:ext cx="457200" cy="411480"/>
          </a:xfrm>
          <a:prstGeom prst="rect">
            <a:avLst/>
          </a:prstGeom>
          <a:noFill/>
        </p:spPr>
        <p:txBody>
          <a:bodyPr wrap="square" anchor="ctr">
            <a:normAutofit/>
          </a:bodyPr>
          <a:lstStyle/>
          <a:p>
            <a:pPr algn="ctr"/>
            <a:r>
              <a:rPr lang="en-US" sz="1500" b="1" dirty="0">
                <a:solidFill>
                  <a:srgbClr val="22333B"/>
                </a:solidFill>
                <a:latin typeface="Calibri"/>
                <a:cs typeface="Calibri"/>
              </a:rPr>
              <a:t>W</a:t>
            </a:r>
          </a:p>
        </p:txBody>
      </p:sp>
      <p:sp>
        <p:nvSpPr>
          <p:cNvPr id="38" name="needle"/>
          <p:cNvSpPr/>
          <p:nvPr/>
        </p:nvSpPr>
        <p:spPr>
          <a:xfrm>
            <a:off x="9857232" y="2057400"/>
            <a:ext cx="219456" cy="1280160"/>
          </a:xfrm>
          <a:prstGeom prst="triangle">
            <a:avLst/>
          </a:prstGeom>
          <a:solidFill>
            <a:srgbClr val="E07A5F"/>
          </a:solidFill>
        </p:spPr>
        <p:txBody>
          <a:bodyPr/>
          <a:lstStyle/>
          <a:p>
            <a:endParaRPr lang="en-US"/>
          </a:p>
        </p:txBody>
      </p:sp>
      <p:sp>
        <p:nvSpPr>
          <p:cNvPr id="39" name="legend"/>
          <p:cNvSpPr/>
          <p:nvPr/>
        </p:nvSpPr>
        <p:spPr>
          <a:xfrm>
            <a:off x="9098280" y="3794760"/>
            <a:ext cx="1737360" cy="2834640"/>
          </a:xfrm>
          <a:prstGeom prst="roundRect">
            <a:avLst/>
          </a:prstGeom>
          <a:solidFill>
            <a:srgbClr val="FFFFFF"/>
          </a:solidFill>
          <a:ln w="9525">
            <a:solidFill>
              <a:srgbClr val="6C757D"/>
            </a:solidFill>
          </a:ln>
        </p:spPr>
        <p:txBody>
          <a:bodyPr wrap="square" anchor="t">
            <a:normAutofit/>
          </a:bodyPr>
          <a:lstStyle/>
          <a:p>
            <a:pPr algn="ctr"/>
            <a:r>
              <a:rPr lang="en-US" sz="1200" b="1" dirty="0">
                <a:solidFill>
                  <a:srgbClr val="3D5A80"/>
                </a:solidFill>
                <a:latin typeface="Calibri"/>
                <a:cs typeface="Calibri"/>
              </a:rPr>
              <a:t>LEGEND</a:t>
            </a:r>
          </a:p>
          <a:p>
            <a:pPr algn="ctr"/>
            <a:endParaRPr lang="en-US" sz="600"/>
          </a:p>
          <a:p>
            <a:pPr algn="ctr"/>
            <a:r>
              <a:rPr lang="en-US" sz="950" dirty="0">
                <a:solidFill>
                  <a:srgbClr val="E07A5F"/>
                </a:solidFill>
                <a:latin typeface="Calibri"/>
                <a:cs typeface="Calibri"/>
              </a:rPr>
              <a:t>(o) Traffic light</a:t>
            </a:r>
          </a:p>
          <a:p>
            <a:pPr algn="ctr"/>
            <a:r>
              <a:rPr lang="en-US" sz="950" dirty="0">
                <a:solidFill>
                  <a:srgbClr val="22333B"/>
                </a:solidFill>
                <a:latin typeface="Calibri"/>
                <a:cs typeface="Calibri"/>
              </a:rPr>
              <a:t>(0) Roundabout</a:t>
            </a:r>
          </a:p>
          <a:p>
            <a:pPr algn="ctr"/>
            <a:r>
              <a:rPr lang="en-US" sz="950" dirty="0">
                <a:solidFill>
                  <a:srgbClr val="7FB069"/>
                </a:solidFill>
                <a:latin typeface="Calibri"/>
                <a:cs typeface="Calibri"/>
              </a:rPr>
              <a:t>[ ] Green area</a:t>
            </a:r>
          </a:p>
          <a:p>
            <a:pPr algn="ctr"/>
            <a:r>
              <a:rPr lang="en-US" sz="950" dirty="0">
                <a:solidFill>
                  <a:srgbClr val="6C757D"/>
                </a:solidFill>
                <a:latin typeface="Calibri"/>
                <a:cs typeface="Calibri"/>
              </a:rPr>
              <a:t>--- Street / Avenue</a:t>
            </a:r>
          </a:p>
          <a:p>
            <a:pPr algn="ctr"/>
            <a:endParaRPr lang="en-US" sz="500"/>
          </a:p>
          <a:p>
            <a:pPr algn="ctr"/>
            <a:r>
              <a:rPr lang="en-US" sz="900" b="1" dirty="0">
                <a:solidFill>
                  <a:srgbClr val="E07A5F"/>
                </a:solidFill>
                <a:latin typeface="Calibri"/>
                <a:cs typeface="Calibri"/>
              </a:rPr>
              <a:t>Click a place</a:t>
            </a:r>
          </a:p>
          <a:p>
            <a:pPr algn="ctr"/>
            <a:r>
              <a:rPr lang="en-US" sz="900" b="1" dirty="0">
                <a:solidFill>
                  <a:srgbClr val="E07A5F"/>
                </a:solidFill>
                <a:latin typeface="Calibri"/>
                <a:cs typeface="Calibri"/>
              </a:rPr>
              <a:t>to see its info!</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titlebar"/>
          <p:cNvSpPr/>
          <p:nvPr/>
        </p:nvSpPr>
        <p:spPr>
          <a:xfrm>
            <a:off x="0" y="0"/>
            <a:ext cx="12192000" cy="777240"/>
          </a:xfrm>
          <a:prstGeom prst="rect">
            <a:avLst/>
          </a:prstGeom>
          <a:solidFill>
            <a:srgbClr val="3D5A80"/>
          </a:solidFill>
        </p:spPr>
        <p:txBody>
          <a:bodyPr wrap="square" anchor="ctr">
            <a:normAutofit/>
          </a:bodyPr>
          <a:lstStyle/>
          <a:p>
            <a:pPr algn="ctr"/>
            <a:r>
              <a:rPr lang="en-US" sz="2400" b="1" dirty="0">
                <a:solidFill>
                  <a:srgbClr val="FFFFFF"/>
                </a:solidFill>
                <a:latin typeface="Calibri"/>
                <a:cs typeface="Calibri"/>
              </a:rPr>
              <a:t>Directions - 5 Routes from my Home</a:t>
            </a:r>
          </a:p>
        </p:txBody>
      </p:sp>
      <p:sp>
        <p:nvSpPr>
          <p:cNvPr id="3" name="card0"/>
          <p:cNvSpPr/>
          <p:nvPr/>
        </p:nvSpPr>
        <p:spPr>
          <a:xfrm>
            <a:off x="320040" y="960120"/>
            <a:ext cx="5303520" cy="1600200"/>
          </a:xfrm>
          <a:prstGeom prst="roundRect">
            <a:avLst/>
          </a:prstGeom>
          <a:solidFill>
            <a:srgbClr val="FFFFFF"/>
          </a:solidFill>
          <a:ln w="12700">
            <a:solidFill>
              <a:srgbClr val="E07A5F"/>
            </a:solidFill>
          </a:ln>
        </p:spPr>
        <p:txBody>
          <a:bodyPr wrap="square" anchor="t">
            <a:normAutofit/>
          </a:bodyPr>
          <a:lstStyle/>
          <a:p>
            <a:pPr algn="l"/>
            <a:r>
              <a:rPr lang="en-US" sz="1400" b="1" dirty="0">
                <a:solidFill>
                  <a:srgbClr val="3D5A80"/>
                </a:solidFill>
                <a:latin typeface="Calibri"/>
                <a:cs typeface="Calibri"/>
              </a:rPr>
              <a:t>1. Home to Supermarket</a:t>
            </a:r>
          </a:p>
          <a:p>
            <a:pPr algn="l"/>
            <a:endParaRPr lang="en-US" sz="400"/>
          </a:p>
          <a:p>
            <a:pPr algn="l"/>
            <a:r>
              <a:rPr lang="en-US" sz="1100" dirty="0">
                <a:solidFill>
                  <a:srgbClr val="22333B"/>
                </a:solidFill>
                <a:latin typeface="Calibri"/>
                <a:cs typeface="Calibri"/>
              </a:rPr>
              <a:t>Go straight on Carrera 69 for one block. Turn left at the first traffic light. The supermarket is on the corner, in front of the hospital. It is about five minutes by foot.</a:t>
            </a:r>
          </a:p>
        </p:txBody>
      </p:sp>
      <p:sp>
        <p:nvSpPr>
          <p:cNvPr id="4" name="card1"/>
          <p:cNvSpPr/>
          <p:nvPr/>
        </p:nvSpPr>
        <p:spPr>
          <a:xfrm>
            <a:off x="5760720" y="960120"/>
            <a:ext cx="5303520" cy="1600200"/>
          </a:xfrm>
          <a:prstGeom prst="roundRect">
            <a:avLst/>
          </a:prstGeom>
          <a:solidFill>
            <a:srgbClr val="FFFFFF"/>
          </a:solidFill>
          <a:ln w="12700">
            <a:solidFill>
              <a:srgbClr val="E07A5F"/>
            </a:solidFill>
          </a:ln>
        </p:spPr>
        <p:txBody>
          <a:bodyPr wrap="square" anchor="t">
            <a:normAutofit/>
          </a:bodyPr>
          <a:lstStyle/>
          <a:p>
            <a:pPr algn="l"/>
            <a:r>
              <a:rPr lang="en-US" sz="1400" b="1" dirty="0">
                <a:solidFill>
                  <a:srgbClr val="3D5A80"/>
                </a:solidFill>
                <a:latin typeface="Calibri"/>
                <a:cs typeface="Calibri"/>
              </a:rPr>
              <a:t>2. Home to School</a:t>
            </a:r>
          </a:p>
          <a:p>
            <a:pPr algn="l"/>
            <a:endParaRPr lang="en-US" sz="400"/>
          </a:p>
          <a:p>
            <a:pPr algn="l"/>
            <a:r>
              <a:rPr lang="en-US" sz="1100" dirty="0">
                <a:solidFill>
                  <a:srgbClr val="22333B"/>
                </a:solidFill>
                <a:latin typeface="Calibri"/>
                <a:cs typeface="Calibri"/>
              </a:rPr>
              <a:t>Go straight on Calle 72. Cross the street at the crossing near the park. Turn right at the roundabout. The school is next to Simon Bolivar Park, on your left. Ten minutes by foot.</a:t>
            </a:r>
          </a:p>
        </p:txBody>
      </p:sp>
      <p:sp>
        <p:nvSpPr>
          <p:cNvPr id="5" name="card2"/>
          <p:cNvSpPr/>
          <p:nvPr/>
        </p:nvSpPr>
        <p:spPr>
          <a:xfrm>
            <a:off x="320040" y="2697480"/>
            <a:ext cx="5303520" cy="1600200"/>
          </a:xfrm>
          <a:prstGeom prst="roundRect">
            <a:avLst/>
          </a:prstGeom>
          <a:solidFill>
            <a:srgbClr val="FFFFFF"/>
          </a:solidFill>
          <a:ln w="12700">
            <a:solidFill>
              <a:srgbClr val="E07A5F"/>
            </a:solidFill>
          </a:ln>
        </p:spPr>
        <p:txBody>
          <a:bodyPr wrap="square" anchor="t">
            <a:normAutofit/>
          </a:bodyPr>
          <a:lstStyle/>
          <a:p>
            <a:pPr algn="l"/>
            <a:r>
              <a:rPr lang="en-US" sz="1400" b="1" dirty="0">
                <a:solidFill>
                  <a:srgbClr val="3D5A80"/>
                </a:solidFill>
                <a:latin typeface="Calibri"/>
                <a:cs typeface="Calibri"/>
              </a:rPr>
              <a:t>3. Home to Subway Station</a:t>
            </a:r>
          </a:p>
          <a:p>
            <a:pPr algn="l"/>
            <a:endParaRPr lang="en-US" sz="400"/>
          </a:p>
          <a:p>
            <a:pPr algn="l"/>
            <a:r>
              <a:rPr lang="en-US" sz="1100" dirty="0">
                <a:solidFill>
                  <a:srgbClr val="22333B"/>
                </a:solidFill>
                <a:latin typeface="Calibri"/>
                <a:cs typeface="Calibri"/>
              </a:rPr>
              <a:t>Go straight on Calle 72 until Carrera 60. Turn left and walk two blocks. Go over the bridge. The subway station is on the right, in front of the central square.</a:t>
            </a:r>
          </a:p>
        </p:txBody>
      </p:sp>
      <p:sp>
        <p:nvSpPr>
          <p:cNvPr id="6" name="card3"/>
          <p:cNvSpPr/>
          <p:nvPr/>
        </p:nvSpPr>
        <p:spPr>
          <a:xfrm>
            <a:off x="5760720" y="2697480"/>
            <a:ext cx="5303520" cy="1600200"/>
          </a:xfrm>
          <a:prstGeom prst="roundRect">
            <a:avLst/>
          </a:prstGeom>
          <a:solidFill>
            <a:srgbClr val="FFFFFF"/>
          </a:solidFill>
          <a:ln w="12700">
            <a:solidFill>
              <a:srgbClr val="E07A5F"/>
            </a:solidFill>
          </a:ln>
        </p:spPr>
        <p:txBody>
          <a:bodyPr wrap="square" anchor="t">
            <a:normAutofit/>
          </a:bodyPr>
          <a:lstStyle/>
          <a:p>
            <a:pPr algn="l"/>
            <a:r>
              <a:rPr lang="en-US" sz="1400" b="1" dirty="0">
                <a:solidFill>
                  <a:srgbClr val="3D5A80"/>
                </a:solidFill>
                <a:latin typeface="Calibri"/>
                <a:cs typeface="Calibri"/>
              </a:rPr>
              <a:t>4. Home to Library</a:t>
            </a:r>
          </a:p>
          <a:p>
            <a:pPr algn="l"/>
            <a:endParaRPr lang="en-US" sz="400"/>
          </a:p>
          <a:p>
            <a:pPr algn="l"/>
            <a:r>
              <a:rPr lang="en-US" sz="1100" dirty="0">
                <a:solidFill>
                  <a:srgbClr val="22333B"/>
                </a:solidFill>
                <a:latin typeface="Calibri"/>
                <a:cs typeface="Calibri"/>
              </a:rPr>
              <a:t>Walk east on Calle 72. Turn left at the roundabout onto Avenida 68. The library is the big building on the corner, next to the cafe.</a:t>
            </a:r>
          </a:p>
        </p:txBody>
      </p:sp>
      <p:sp>
        <p:nvSpPr>
          <p:cNvPr id="7" name="card4"/>
          <p:cNvSpPr/>
          <p:nvPr/>
        </p:nvSpPr>
        <p:spPr>
          <a:xfrm>
            <a:off x="320040" y="4434840"/>
            <a:ext cx="5303520" cy="1600200"/>
          </a:xfrm>
          <a:prstGeom prst="roundRect">
            <a:avLst/>
          </a:prstGeom>
          <a:solidFill>
            <a:srgbClr val="FFFFFF"/>
          </a:solidFill>
          <a:ln w="12700">
            <a:solidFill>
              <a:srgbClr val="E07A5F"/>
            </a:solidFill>
          </a:ln>
        </p:spPr>
        <p:txBody>
          <a:bodyPr wrap="square" anchor="t">
            <a:normAutofit/>
          </a:bodyPr>
          <a:lstStyle/>
          <a:p>
            <a:pPr algn="l"/>
            <a:r>
              <a:rPr lang="en-US" sz="1400" b="1" dirty="0">
                <a:solidFill>
                  <a:srgbClr val="3D5A80"/>
                </a:solidFill>
                <a:latin typeface="Calibri"/>
                <a:cs typeface="Calibri"/>
              </a:rPr>
              <a:t>5. Home to Pharmacy</a:t>
            </a:r>
          </a:p>
          <a:p>
            <a:pPr algn="l"/>
            <a:endParaRPr lang="en-US" sz="400"/>
          </a:p>
          <a:p>
            <a:pPr algn="l"/>
            <a:r>
              <a:rPr lang="en-US" sz="1100" dirty="0">
                <a:solidFill>
                  <a:srgbClr val="22333B"/>
                </a:solidFill>
                <a:latin typeface="Calibri"/>
                <a:cs typeface="Calibri"/>
              </a:rPr>
              <a:t>Go straight on Carrera 69 and turn right at Calle 68. Cross the street at the traffic light. The pharmacy is between the hospital and the store. Three minutes by foot.</a:t>
            </a:r>
          </a:p>
        </p:txBody>
      </p:sp>
      <p:sp>
        <p:nvSpPr>
          <p:cNvPr id="8" name="vocab"/>
          <p:cNvSpPr/>
          <p:nvPr/>
        </p:nvSpPr>
        <p:spPr>
          <a:xfrm>
            <a:off x="5760720" y="4434840"/>
            <a:ext cx="5303520" cy="1600200"/>
          </a:xfrm>
          <a:prstGeom prst="roundRect">
            <a:avLst/>
          </a:prstGeom>
          <a:solidFill>
            <a:srgbClr val="F2CC8F"/>
          </a:solidFill>
          <a:ln w="9525">
            <a:solidFill>
              <a:srgbClr val="6C757D"/>
            </a:solidFill>
          </a:ln>
        </p:spPr>
        <p:txBody>
          <a:bodyPr wrap="square" anchor="t">
            <a:normAutofit/>
          </a:bodyPr>
          <a:lstStyle/>
          <a:p>
            <a:pPr algn="l"/>
            <a:r>
              <a:rPr lang="en-US" sz="1300" b="1" dirty="0">
                <a:solidFill>
                  <a:srgbClr val="22333B"/>
                </a:solidFill>
                <a:latin typeface="Calibri"/>
                <a:cs typeface="Calibri"/>
              </a:rPr>
              <a:t>Key vocabulary used</a:t>
            </a:r>
          </a:p>
          <a:p>
            <a:pPr algn="l"/>
            <a:r>
              <a:rPr lang="en-US" sz="1050" dirty="0">
                <a:solidFill>
                  <a:srgbClr val="22333B"/>
                </a:solidFill>
                <a:latin typeface="Calibri"/>
                <a:cs typeface="Calibri"/>
              </a:rPr>
              <a:t>corner - crossing - roundabout - bridge - traffic light - next to - in front of - between - go straight - turn left/right - cross the street - by foot</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titlebar"/>
          <p:cNvSpPr/>
          <p:nvPr/>
        </p:nvSpPr>
        <p:spPr>
          <a:xfrm>
            <a:off x="0" y="0"/>
            <a:ext cx="12192000" cy="777240"/>
          </a:xfrm>
          <a:prstGeom prst="rect">
            <a:avLst/>
          </a:prstGeom>
          <a:solidFill>
            <a:srgbClr val="3D5A80"/>
          </a:solidFill>
        </p:spPr>
        <p:txBody>
          <a:bodyPr wrap="square" anchor="ctr">
            <a:normAutofit/>
          </a:bodyPr>
          <a:lstStyle/>
          <a:p>
            <a:pPr algn="ctr"/>
            <a:r>
              <a:rPr lang="en-US" sz="2400" b="1" dirty="0">
                <a:solidFill>
                  <a:srgbClr val="FFFFFF"/>
                </a:solidFill>
                <a:latin typeface="Calibri"/>
                <a:cs typeface="Calibri"/>
              </a:rPr>
              <a:t>My Neighborhood &amp; Oral Task</a:t>
            </a:r>
          </a:p>
        </p:txBody>
      </p:sp>
      <p:sp>
        <p:nvSpPr>
          <p:cNvPr id="3" name="desc"/>
          <p:cNvSpPr/>
          <p:nvPr/>
        </p:nvSpPr>
        <p:spPr>
          <a:xfrm>
            <a:off x="365760" y="960120"/>
            <a:ext cx="6400800" cy="2926080"/>
          </a:xfrm>
          <a:prstGeom prst="roundRect">
            <a:avLst/>
          </a:prstGeom>
          <a:solidFill>
            <a:srgbClr val="FFFFFF"/>
          </a:solidFill>
          <a:ln w="15875">
            <a:solidFill>
              <a:srgbClr val="7FB069"/>
            </a:solidFill>
          </a:ln>
        </p:spPr>
        <p:txBody>
          <a:bodyPr wrap="square" anchor="t">
            <a:normAutofit/>
          </a:bodyPr>
          <a:lstStyle/>
          <a:p>
            <a:pPr algn="l"/>
            <a:r>
              <a:rPr lang="en-US" sz="1500" b="1" dirty="0">
                <a:solidFill>
                  <a:srgbClr val="7FB069"/>
                </a:solidFill>
                <a:latin typeface="Calibri"/>
                <a:cs typeface="Calibri"/>
              </a:rPr>
              <a:t>Written description (5-6 lines)</a:t>
            </a:r>
          </a:p>
          <a:p>
            <a:pPr algn="l"/>
            <a:endParaRPr lang="en-US" sz="400"/>
          </a:p>
          <a:p>
            <a:pPr algn="l"/>
            <a:r>
              <a:rPr lang="en-US" sz="1400" dirty="0">
                <a:solidFill>
                  <a:srgbClr val="22333B"/>
                </a:solidFill>
                <a:latin typeface="Calibri"/>
                <a:cs typeface="Calibri"/>
              </a:rPr>
              <a:t>I live in "Las Ferias", a lively and consolidated neighborhood in the west of Bogota. In my area there are many useful places: a supermarket, a school, a hospital, a library, a cafe and a subway station. I really like my neighborhood because it is green, safe and well connected. Most places are arranged along two main avenues, so everything is close and easy to reach on foot.</a:t>
            </a:r>
          </a:p>
        </p:txBody>
      </p:sp>
      <p:sp>
        <p:nvSpPr>
          <p:cNvPr id="4" name="audio"/>
          <p:cNvSpPr/>
          <p:nvPr/>
        </p:nvSpPr>
        <p:spPr>
          <a:xfrm>
            <a:off x="7040880" y="960120"/>
            <a:ext cx="3749039" cy="2926080"/>
          </a:xfrm>
          <a:prstGeom prst="roundRect">
            <a:avLst/>
          </a:prstGeom>
          <a:solidFill>
            <a:srgbClr val="F2CC8F"/>
          </a:solidFill>
          <a:ln w="15875">
            <a:solidFill>
              <a:srgbClr val="E07A5F"/>
            </a:solidFill>
          </a:ln>
        </p:spPr>
        <p:txBody>
          <a:bodyPr wrap="square" anchor="t">
            <a:normAutofit/>
          </a:bodyPr>
          <a:lstStyle/>
          <a:p>
            <a:pPr algn="l"/>
            <a:r>
              <a:rPr lang="en-US" sz="1300" b="1" dirty="0">
                <a:solidFill>
                  <a:srgbClr val="22333B"/>
                </a:solidFill>
                <a:latin typeface="Calibri"/>
                <a:cs typeface="Calibri"/>
              </a:rPr>
              <a:t>Oral task - audio script (under 2 min)</a:t>
            </a:r>
          </a:p>
          <a:p>
            <a:pPr algn="l"/>
            <a:endParaRPr lang="en-US" sz="300"/>
          </a:p>
          <a:p>
            <a:pPr algn="l"/>
            <a:r>
              <a:rPr lang="en-US" sz="1200" i="1" dirty="0">
                <a:solidFill>
                  <a:srgbClr val="22333B"/>
                </a:solidFill>
                <a:latin typeface="Calibri"/>
                <a:cs typeface="Calibri"/>
              </a:rPr>
              <a:t>"To get from my home to the subway station: go straight on Calle 72 until you reach Carrera 60. Turn left and walk two blocks. Go over the bridge. The subway station is on your right, in front of the central square. It is about seven minutes by foot."</a:t>
            </a:r>
          </a:p>
          <a:p>
            <a:pPr algn="l"/>
            <a:endParaRPr lang="en-US" sz="300"/>
          </a:p>
          <a:p>
            <a:pPr algn="l"/>
            <a:r>
              <a:rPr lang="en-US" sz="1000" b="1" dirty="0">
                <a:solidFill>
                  <a:srgbClr val="E07A5F"/>
                </a:solidFill>
                <a:latin typeface="Calibri"/>
                <a:cs typeface="Calibri"/>
              </a:rPr>
              <a:t>Record this clearly as your audio file.</a:t>
            </a:r>
          </a:p>
        </p:txBody>
      </p:sp>
      <p:sp>
        <p:nvSpPr>
          <p:cNvPr id="5" name="tip"/>
          <p:cNvSpPr/>
          <p:nvPr/>
        </p:nvSpPr>
        <p:spPr>
          <a:xfrm>
            <a:off x="365760" y="4114800"/>
            <a:ext cx="10424160" cy="2286000"/>
          </a:xfrm>
          <a:prstGeom prst="roundRect">
            <a:avLst/>
          </a:prstGeom>
          <a:solidFill>
            <a:srgbClr val="F2F4F3"/>
          </a:solidFill>
          <a:ln w="9525">
            <a:solidFill>
              <a:srgbClr val="6C757D"/>
            </a:solidFill>
          </a:ln>
        </p:spPr>
        <p:txBody>
          <a:bodyPr wrap="square" anchor="t">
            <a:normAutofit/>
          </a:bodyPr>
          <a:lstStyle/>
          <a:p>
            <a:pPr algn="l"/>
            <a:r>
              <a:rPr lang="en-US" sz="1500" b="1" dirty="0">
                <a:solidFill>
                  <a:srgbClr val="3D5A80"/>
                </a:solidFill>
                <a:latin typeface="Calibri"/>
                <a:cs typeface="Calibri"/>
              </a:rPr>
              <a:t>Checklist of required elements</a:t>
            </a:r>
          </a:p>
          <a:p>
            <a:pPr algn="l"/>
            <a:endParaRPr lang="en-US" sz="300"/>
          </a:p>
          <a:p>
            <a:pPr algn="l"/>
            <a:r>
              <a:rPr lang="en-US" sz="1200" dirty="0">
                <a:solidFill>
                  <a:srgbClr val="22333B"/>
                </a:solidFill>
                <a:latin typeface="Calibri"/>
                <a:cs typeface="Calibri"/>
              </a:rPr>
              <a:t>- Completed map with labeled places and streets  (slide 2)</a:t>
            </a:r>
          </a:p>
          <a:p>
            <a:pPr algn="l"/>
            <a:r>
              <a:rPr lang="en-US" sz="1200" dirty="0">
                <a:solidFill>
                  <a:srgbClr val="22333B"/>
                </a:solidFill>
                <a:latin typeface="Calibri"/>
                <a:cs typeface="Calibri"/>
              </a:rPr>
              <a:t>- Written instructions for 5 different destinations  (slide 3)</a:t>
            </a:r>
          </a:p>
          <a:p>
            <a:pPr algn="l"/>
            <a:r>
              <a:rPr lang="en-US" sz="1200" dirty="0">
                <a:solidFill>
                  <a:srgbClr val="22333B"/>
                </a:solidFill>
                <a:latin typeface="Calibri"/>
                <a:cs typeface="Calibri"/>
              </a:rPr>
              <a:t>- Audio script for one route - record it from this slide</a:t>
            </a:r>
          </a:p>
          <a:p>
            <a:pPr algn="l"/>
            <a:r>
              <a:rPr lang="en-US" sz="1200" dirty="0">
                <a:solidFill>
                  <a:srgbClr val="22333B"/>
                </a:solidFill>
                <a:latin typeface="Calibri"/>
                <a:cs typeface="Calibri"/>
              </a:rPr>
              <a:t>- Written description of the neighborhood  (this slide)</a:t>
            </a:r>
          </a:p>
          <a:p>
            <a:pPr algn="l"/>
            <a:r>
              <a:rPr lang="en-US" sz="1200" dirty="0">
                <a:solidFill>
                  <a:srgbClr val="22333B"/>
                </a:solidFill>
                <a:latin typeface="Calibri"/>
                <a:cs typeface="Calibri"/>
              </a:rPr>
              <a:t>- Interactive clickable places  (slide 2 - click any place)</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Home</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This is my house, the start of every route. It is on Carrera 69, near Simon Bolivar Park.</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Supermarket</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Open every day. On the corner of Carrera 69 and Calle 68, in front of the hospital. Five minutes by foot.</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School</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A primary school next to Simon Bolivar Park. Turn right at the roundabout to reach it.</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Hospital</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The neighborhood hospital, on Avenida 68. There is a traffic light at its main entrance.</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Library</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A public library on the corner of Avenida 68, right next to the cafe. Quiet and free to enter.</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Cafe</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A small cafe next to the library. Perfect to meet friends after school.</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Subway Station</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The main transport hub, across the bridge, in front of the central square. Very well connected.</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Bank</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The local bank on Carrera 60, with an ATM open 24 hours.</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Pharmacy</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Between the hospital and the store, on Calle 68. Three minutes by foot from home.</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4F3"/>
        </a:solidFill>
        <a:effectLst/>
      </p:bgPr>
    </p:bg>
    <p:spTree>
      <p:nvGrpSpPr>
        <p:cNvPr id="1" name=""/>
        <p:cNvGrpSpPr/>
        <p:nvPr/>
      </p:nvGrpSpPr>
      <p:grpSpPr>
        <a:xfrm>
          <a:off x="0" y="0"/>
          <a:ext cx="0" cy="0"/>
          <a:chOff x="0" y="0"/>
          <a:chExt cx="0" cy="0"/>
        </a:xfrm>
      </p:grpSpPr>
      <p:sp>
        <p:nvSpPr>
          <p:cNvPr id="2" name="band"/>
          <p:cNvSpPr/>
          <p:nvPr/>
        </p:nvSpPr>
        <p:spPr>
          <a:xfrm>
            <a:off x="0" y="0"/>
            <a:ext cx="12192000" cy="6858000"/>
          </a:xfrm>
          <a:prstGeom prst="rect">
            <a:avLst/>
          </a:prstGeom>
          <a:solidFill>
            <a:srgbClr val="F2F4F3"/>
          </a:solidFill>
        </p:spPr>
        <p:txBody>
          <a:bodyPr/>
          <a:lstStyle/>
          <a:p>
            <a:endParaRPr lang="en-US"/>
          </a:p>
        </p:txBody>
      </p:sp>
      <p:sp>
        <p:nvSpPr>
          <p:cNvPr id="3" name="titlebar"/>
          <p:cNvSpPr/>
          <p:nvPr/>
        </p:nvSpPr>
        <p:spPr>
          <a:xfrm>
            <a:off x="0" y="0"/>
            <a:ext cx="12192000" cy="1463040"/>
          </a:xfrm>
          <a:prstGeom prst="rect">
            <a:avLst/>
          </a:prstGeom>
          <a:solidFill>
            <a:srgbClr val="3D5A80"/>
          </a:solidFill>
        </p:spPr>
        <p:txBody>
          <a:bodyPr wrap="square" anchor="ctr">
            <a:normAutofit/>
          </a:bodyPr>
          <a:lstStyle/>
          <a:p>
            <a:pPr algn="ctr"/>
            <a:r>
              <a:rPr lang="en-US" sz="4000" b="1" dirty="0">
                <a:solidFill>
                  <a:srgbClr val="FFFFFF"/>
                </a:solidFill>
                <a:latin typeface="Calibri"/>
                <a:cs typeface="Calibri"/>
              </a:rPr>
              <a:t>Store</a:t>
            </a:r>
          </a:p>
        </p:txBody>
      </p:sp>
      <p:sp>
        <p:nvSpPr>
          <p:cNvPr id="4" name="card"/>
          <p:cNvSpPr/>
          <p:nvPr/>
        </p:nvSpPr>
        <p:spPr>
          <a:xfrm>
            <a:off x="1371600" y="2194560"/>
            <a:ext cx="8503920" cy="2377440"/>
          </a:xfrm>
          <a:prstGeom prst="roundRect">
            <a:avLst/>
          </a:prstGeom>
          <a:solidFill>
            <a:srgbClr val="FFFFFF"/>
          </a:solidFill>
          <a:ln w="15875">
            <a:solidFill>
              <a:srgbClr val="E07A5F"/>
            </a:solidFill>
          </a:ln>
        </p:spPr>
        <p:txBody>
          <a:bodyPr wrap="square" anchor="t">
            <a:normAutofit/>
          </a:bodyPr>
          <a:lstStyle/>
          <a:p>
            <a:pPr algn="l"/>
            <a:r>
              <a:rPr lang="en-US" sz="1600" b="1" dirty="0">
                <a:solidFill>
                  <a:srgbClr val="E07A5F"/>
                </a:solidFill>
                <a:latin typeface="Calibri"/>
                <a:cs typeface="Calibri"/>
              </a:rPr>
              <a:t>Description</a:t>
            </a:r>
          </a:p>
          <a:p>
            <a:pPr algn="l"/>
            <a:endParaRPr lang="en-US" sz="400"/>
          </a:p>
          <a:p>
            <a:pPr algn="l"/>
            <a:r>
              <a:rPr lang="en-US" sz="2000" dirty="0">
                <a:solidFill>
                  <a:srgbClr val="22333B"/>
                </a:solidFill>
                <a:latin typeface="Calibri"/>
                <a:cs typeface="Calibri"/>
              </a:rPr>
              <a:t>A general store near the central square for daily shopping. Close to the pharmacy.</a:t>
            </a:r>
          </a:p>
        </p:txBody>
      </p:sp>
      <p:sp>
        <p:nvSpPr>
          <p:cNvPr id="5" name="back">
            <a:hlinkClick xmlns:r="http://schemas.openxmlformats.org/officeDocument/2006/relationships" r:id="rId2" action="ppaction://hlinksldjump"/>
          </p:cNvPr>
          <p:cNvSpPr/>
          <p:nvPr/>
        </p:nvSpPr>
        <p:spPr>
          <a:xfrm>
            <a:off x="4206240" y="5120640"/>
            <a:ext cx="2834640" cy="822960"/>
          </a:xfrm>
          <a:prstGeom prst="roundRect">
            <a:avLst/>
          </a:prstGeom>
          <a:solidFill>
            <a:srgbClr val="E07A5F"/>
          </a:solidFill>
          <a:ln w="12700">
            <a:solidFill>
              <a:srgbClr val="FFFFFF"/>
            </a:solidFill>
          </a:ln>
        </p:spPr>
        <p:txBody>
          <a:bodyPr wrap="square" anchor="ctr">
            <a:normAutofit/>
          </a:bodyPr>
          <a:lstStyle/>
          <a:p>
            <a:pPr algn="ctr"/>
            <a:r>
              <a:rPr lang="en-US" sz="1600" b="1" dirty="0">
                <a:solidFill>
                  <a:srgbClr val="FFFFFF"/>
                </a:solidFill>
                <a:latin typeface="Calibri"/>
                <a:cs typeface="Calibri"/>
              </a:rPr>
              <a:t>Back to the map</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3D5A80"/>
      </a:accent1>
      <a:accent2>
        <a:srgbClr val="E07A5F"/>
      </a:accent2>
      <a:accent3>
        <a:srgbClr val="7FB069"/>
      </a:accent3>
      <a:accent4>
        <a:srgbClr val="F2CC8F"/>
      </a:accent4>
      <a:accent5>
        <a:srgbClr val="A9D6E5"/>
      </a:accent5>
      <a:accent6>
        <a:srgbClr val="22333B"/>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caleCrop>false</ScaleCrop>
  <Slides>14</Slides>
  <Notes>0</Notes>
  <HiddenSlides>0</HiddenSlides>
  <MMClips>0</MMClip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Interactive Neighborhood Map - Las Ferias, Bogota</dc:title>
  <dc:creator>English Project</dc:creator>
  <cp:lastModifiedBy>English Project</cp:lastModifiedBy>
  <dcterms:created xsi:type="dcterms:W3CDTF">2026-10-18T00:00:00Z</dcterms:created>
  <dcterms:modified xsi:type="dcterms:W3CDTF">2026-10-18T00:00:00Z</dcterms:modified>
</cp:coreProperties>
</file>